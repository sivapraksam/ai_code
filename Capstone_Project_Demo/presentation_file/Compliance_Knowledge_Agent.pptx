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9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COMPLIANCE KNOWLEDGE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6E4F0"/>
                </a:solidFill>
                <a:latin typeface="Calibri"/>
              </a:rPr>
              <a:t>Banking &amp; Financial Services RAG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Production-grade Retrieval-Augmented Generation system
delivering citation-grounded answers with confidence scoring &amp; automated escalation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97680"/>
            <a:ext cx="2743200" cy="804672"/>
          </a:xfrm>
          <a:prstGeom prst="rect">
            <a:avLst/>
          </a:prstGeom>
          <a:solidFill>
            <a:srgbClr val="243F6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3342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FastAPI · Gemini 1.5 Flash · ChromaDB · BGE · Cross-Encoder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4297680"/>
            <a:ext cx="2743200" cy="804672"/>
          </a:xfrm>
          <a:prstGeom prst="rect">
            <a:avLst/>
          </a:prstGeom>
          <a:solidFill>
            <a:srgbClr val="243F6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56432" y="43342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4572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RAGAS — Faithfulness ≥ 0.90 | Context Recall ≥ 0.85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4297680"/>
            <a:ext cx="2743200" cy="804672"/>
          </a:xfrm>
          <a:prstGeom prst="rect">
            <a:avLst/>
          </a:prstGeom>
          <a:solidFill>
            <a:srgbClr val="243F6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43342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4572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AI-Recommend / Human-Approve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576" y="4297680"/>
            <a:ext cx="2743200" cy="804672"/>
          </a:xfrm>
          <a:prstGeom prst="rect">
            <a:avLst/>
          </a:prstGeom>
          <a:solidFill>
            <a:srgbClr val="243F6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72016" y="43342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6" y="4572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Banking / Financial Services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21792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0"/>
                </a:solidFill>
                <a:latin typeface="Calibri"/>
              </a:rPr>
              <a:t>June 2025  |  Version 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  <a:latin typeface="Calibri"/>
              </a:rPr>
              <a:t>Compliance Knowledge Agent  |  Confidential — For Internal Use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  <a:latin typeface="Calibri"/>
              </a:rPr>
              <a:t>What it does, why it matters, key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The Compliance Knowledge Agent enables compliance officers to ask natural-language questions against a bank's full policy corpus and receive citation-grounded answers with confidence scoring and automated escalation — in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103120"/>
            <a:ext cx="347472" cy="34747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1305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Natural-language Q&amp;A over 28 compliance documents (policies, regulations, audit findings)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578608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Hierarchical chunking with section-title preservation — every answer cites the exact section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54096"/>
            <a:ext cx="347472" cy="34747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0815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BGE-small-en-v1.5 local embeddings — no document data leaves the organisation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529584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5570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Cross-encoder reranker (ms-marco-MiniLM-L-6-v2) for high-precision retrieval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05072"/>
            <a:ext cx="347472" cy="34747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0325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Gemini 1.5 Flash LLM with citation-enforced structured prompting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480560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4507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RAGAS evaluation — Faithfulness ≥ 0.90, Context Recall ≥ 0.85, Context Precision ≥ 0.80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956048"/>
            <a:ext cx="347472" cy="34747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4983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AI-Recommend / Human-Approve trust architecture with automatic escalation triggers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431536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54589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FastAPI REST interface with full OpenAPI / Swagger documentation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  <a:latin typeface="Calibri"/>
              </a:rPr>
              <a:t>Compliance Knowledge Agent  |  Confidential — For Internal Use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  <a:latin typeface="Calibri"/>
              </a:rPr>
              <a:t>Ingestion pipeline (offline) + Query pipeline (real-time)</a:t>
            </a:r>
          </a:p>
        </p:txBody>
      </p:sp>
      <p:pic>
        <p:nvPicPr>
          <p:cNvPr id="5" name="Picture 4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188720"/>
            <a:ext cx="8754264" cy="52303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  <a:latin typeface="Calibri"/>
              </a:rPr>
              <a:t>Compliance Knowledge Agent  |  Confidential — For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RAG Query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  <a:latin typeface="Calibri"/>
              </a:rPr>
              <a:t>6-step flow: embed → search → rerank → generate → escalate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1353312"/>
            <a:ext cx="11027664" cy="34806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5120640"/>
            <a:ext cx="192024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5175504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384-dim
vector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5120640"/>
            <a:ext cx="1920240" cy="7315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59152" y="5175504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Top-10
candidates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5120640"/>
            <a:ext cx="1920240" cy="7315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5175504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Top-5
re-scored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5120640"/>
            <a:ext cx="192024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31152" y="5175504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Citation-
enforced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5120640"/>
            <a:ext cx="1920240" cy="731520"/>
          </a:xfrm>
          <a:prstGeom prst="rect">
            <a:avLst/>
          </a:prstGeom>
          <a:solidFill>
            <a:srgbClr val="378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17152" y="5175504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Grounded
answer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  <a:latin typeface="Calibri"/>
              </a:rPr>
              <a:t>Compliance Knowledge Agent  |  Confidential — For Internal Use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  <a:latin typeface="Calibri"/>
              </a:rPr>
              <a:t>8 best-in-class components, all open-source or low-cost managed services</a:t>
            </a:r>
          </a:p>
        </p:txBody>
      </p:sp>
      <p:pic>
        <p:nvPicPr>
          <p:cNvPr id="5" name="Picture 4" descr="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07592"/>
            <a:ext cx="10789920" cy="48762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8600" y="4663440"/>
            <a:ext cx="2743200" cy="1600200"/>
          </a:xfrm>
          <a:prstGeom prst="rect">
            <a:avLst/>
          </a:prstGeom>
          <a:solidFill>
            <a:srgbClr val="F0F5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964"/>
                </a:solidFill>
                <a:latin typeface="Calibri"/>
              </a:rPr>
              <a:t>API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109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4681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Async; typed; auto OpenAPI docs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4663440"/>
            <a:ext cx="2743200" cy="1600200"/>
          </a:xfrm>
          <a:prstGeom prst="rect">
            <a:avLst/>
          </a:prstGeom>
          <a:solidFill>
            <a:srgbClr val="F0F5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0128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964"/>
                </a:solidFill>
                <a:latin typeface="Calibri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50109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Gemini 1.5 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54681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1 M-token context; cost-effective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4663440"/>
            <a:ext cx="2743200" cy="1600200"/>
          </a:xfrm>
          <a:prstGeom prst="rect">
            <a:avLst/>
          </a:prstGeom>
          <a:solidFill>
            <a:srgbClr val="F0F5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0216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964"/>
                </a:solidFill>
                <a:latin typeface="Calibri"/>
              </a:rPr>
              <a:t>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50109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BGE-small-en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54681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384-dim; local HF; retrieval-optimised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4663440"/>
            <a:ext cx="2743200" cy="1600200"/>
          </a:xfrm>
          <a:prstGeom prst="rect">
            <a:avLst/>
          </a:prstGeom>
          <a:solidFill>
            <a:srgbClr val="F0F5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90304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964"/>
                </a:solidFill>
                <a:latin typeface="Calibri"/>
              </a:rPr>
              <a:t>Vector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50109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ChromaDB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54681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Zero-infra; HNSW; metadata filtering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  <a:latin typeface="Calibri"/>
              </a:rPr>
              <a:t>Compliance Knowledge Agent  |  Confidential — For Internal Use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Document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  <a:latin typeface="Calibri"/>
              </a:rPr>
              <a:t>28 sanitised synthetic compliance documents across 3 types</a:t>
            </a:r>
          </a:p>
        </p:txBody>
      </p:sp>
      <p:pic>
        <p:nvPicPr>
          <p:cNvPr id="5" name="Picture 4" descr="cor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188720"/>
            <a:ext cx="5029200" cy="42452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03520" y="1234440"/>
            <a:ext cx="2148840" cy="5120640"/>
          </a:xfrm>
          <a:prstGeom prst="rect">
            <a:avLst/>
          </a:prstGeom>
          <a:solidFill>
            <a:srgbClr val="F5F9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76672" y="1280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Policy Documents (20)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16642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POL-AML-001  Anti-Money Laundering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6672" y="2167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POL-KYC-002  Know Your Customer / CDD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6672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POL-CRM-003  Credit Risk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6672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POL-ORM-004  Operational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672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POL-DPR-005  Data Privacy / GDPR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POL-CYB-006  Cybersecurity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4681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POL-FRD-009  Fraud Risk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POL-AML-020  Sanctions / OFAC  … +13 more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234440"/>
            <a:ext cx="2148840" cy="5120640"/>
          </a:xfrm>
          <a:prstGeom prst="rect">
            <a:avLst/>
          </a:prstGeom>
          <a:solidFill>
            <a:srgbClr val="F5F9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2672" y="1280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7D31"/>
                </a:solidFill>
                <a:latin typeface="Calibri"/>
              </a:rPr>
              <a:t>Regulatory Bulletins (6)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16642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REG-BUL-001  Basel III Capital Adequacy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2167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REG-BUL-002  Dodd-Frank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2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REG-BUL-003  CFPB 2025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REG-BUL-004  Basel IV / FRTB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3675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REG-BUL-005  OCC Model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41788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REG-BUL-006  CTA Beneficial Ownership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1234440"/>
            <a:ext cx="2148840" cy="5120640"/>
          </a:xfrm>
          <a:prstGeom prst="rect">
            <a:avLst/>
          </a:prstGeom>
          <a:solidFill>
            <a:srgbClr val="F5F9FF"/>
          </a:solidFill>
          <a:ln w="19050">
            <a:solidFill>
              <a:srgbClr val="378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48672" y="1280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863C"/>
                </a:solidFill>
                <a:latin typeface="Calibri"/>
              </a:rPr>
              <a:t>Audit Findings (4)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16642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AUD-FND-001  Q1 2025 AML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2167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AUD-FND-002  Q2 2025 KYC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AUD-FND-003  Q3 2025 Cybersecurity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31729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62626"/>
                </a:solidFill>
                <a:latin typeface="Calibri"/>
              </a:rPr>
              <a:t>• AUD-FND-004  Q4 2024 Credit 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  <a:latin typeface="Calibri"/>
              </a:rPr>
              <a:t>Compliance Knowledge Agent  |  Confidential — For Internal Use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API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  <a:latin typeface="Calibri"/>
              </a:rPr>
              <a:t>Three REST endpoints — full OpenAPI docs at /docs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822960" cy="502920"/>
          </a:xfrm>
          <a:prstGeom prst="rect">
            <a:avLst/>
          </a:prstGeom>
          <a:solidFill>
            <a:srgbClr val="378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3990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207008" y="1325880"/>
            <a:ext cx="320040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139903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E4F0"/>
                </a:solidFill>
                <a:latin typeface="Courier New"/>
              </a:rPr>
              <a:t>/api/v1/ask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Submit a natural-language compliance question.
Returns: answer, citations, confidence, escalation flag, latency_ms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743200"/>
            <a:ext cx="8229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8163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7008" y="2743200"/>
            <a:ext cx="320040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81635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E4F0"/>
                </a:solidFill>
                <a:latin typeface="Courier New"/>
              </a:rPr>
              <a:t>/api/v1/ingest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43200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Trigger document ingestion pipeline.
Load → Chunk → Embed → Store in ChromaDB. Supports reset flag.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160520"/>
            <a:ext cx="82296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42336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008" y="4160520"/>
            <a:ext cx="320040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23367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E4F0"/>
                </a:solidFill>
                <a:latin typeface="Courier New"/>
              </a:rPr>
              <a:t>/api/v1/health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160520"/>
            <a:ext cx="7406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Health check endpoint.
Returns: system status, document count, ChromaDB connection status.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486400"/>
            <a:ext cx="11521440" cy="8046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55955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E90"/>
                </a:solidFill>
                <a:latin typeface="Courier New"/>
              </a:rPr>
              <a:t>{ "confidence": "HIGH",  "citations": ["POL-KYC-002 § EDD"],  "escalation_required": false,  "latency_ms": 1243,  "model": "gemini-1.5-flash" 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  <a:latin typeface="Calibri"/>
              </a:rPr>
              <a:t>Compliance Knowledge Agent  |  Confidential — For Internal Use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RAGAS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  <a:latin typeface="Calibri"/>
              </a:rPr>
              <a:t>Three quality metrics — evaluated against a 10-pair golden Q&amp;A set</a:t>
            </a:r>
          </a:p>
        </p:txBody>
      </p:sp>
      <p:pic>
        <p:nvPicPr>
          <p:cNvPr id="5" name="Picture 4" descr="rag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6858000" cy="29942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417320"/>
            <a:ext cx="4846320" cy="1325880"/>
          </a:xfrm>
          <a:prstGeom prst="rect">
            <a:avLst/>
          </a:prstGeom>
          <a:solidFill>
            <a:srgbClr val="F0F5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42048" y="1490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  <a:latin typeface="Calibri"/>
              </a:rPr>
              <a:t>Faithfulness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2048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3C"/>
                </a:solidFill>
                <a:latin typeface="Calibri"/>
              </a:rPr>
              <a:t>Target ≥ 0.90  →  Achieved 0.94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21854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Answer grounded in retrieved context — no hallucination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926080"/>
            <a:ext cx="4846320" cy="1325880"/>
          </a:xfrm>
          <a:prstGeom prst="rect">
            <a:avLst/>
          </a:prstGeom>
          <a:solidFill>
            <a:srgbClr val="F0F5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42048" y="29992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  <a:latin typeface="Calibri"/>
              </a:rPr>
              <a:t>Context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3364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3C"/>
                </a:solidFill>
                <a:latin typeface="Calibri"/>
              </a:rPr>
              <a:t>Target ≥ 0.85  →  Achieved 0.91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36941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Retrieved chunks cover the ground-truth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434840"/>
            <a:ext cx="4846320" cy="1325880"/>
          </a:xfrm>
          <a:prstGeom prst="rect">
            <a:avLst/>
          </a:prstGeom>
          <a:solidFill>
            <a:srgbClr val="F0F5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42048" y="45079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964"/>
                </a:solidFill>
                <a:latin typeface="Calibri"/>
              </a:rPr>
              <a:t>Context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4873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3C"/>
                </a:solidFill>
                <a:latin typeface="Calibri"/>
              </a:rPr>
              <a:t>Target ≥ 0.80  →  Achieved 0.87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520293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Retrieved chunks are relevant (not noisy)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172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  <a:latin typeface="Courier New"/>
              </a:rPr>
              <a:t>Run:  python scripts/run_evaluation.py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  <a:latin typeface="Calibri"/>
              </a:rPr>
              <a:t>Compliance Knowledge Agent  |  Confidential — For Internal Use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 Decision Records (ADRs)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  <a:latin typeface="Calibri"/>
              </a:rPr>
              <a:t>Four key design decisions — each documents Context → Decision → Alternatives → Consequences</a:t>
            </a:r>
          </a:p>
        </p:txBody>
      </p:sp>
      <p:pic>
        <p:nvPicPr>
          <p:cNvPr id="5" name="Picture 4" descr="a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11795760" cy="53308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8600" y="4846320"/>
            <a:ext cx="2788920" cy="1691640"/>
          </a:xfrm>
          <a:prstGeom prst="rect">
            <a:avLst/>
          </a:prstGeom>
          <a:solidFill>
            <a:srgbClr val="F0F5FB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48920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64"/>
                </a:solidFill>
                <a:latin typeface="Calibri"/>
              </a:rPr>
              <a:t>ADR-001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230368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62626"/>
                </a:solidFill>
                <a:latin typeface="Calibri"/>
              </a:rPr>
              <a:t>512 chars / 64 overlap preserves section headings → precise policy citations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8688" y="4846320"/>
            <a:ext cx="2788920" cy="1691640"/>
          </a:xfrm>
          <a:prstGeom prst="rect">
            <a:avLst/>
          </a:prstGeom>
          <a:solidFill>
            <a:srgbClr val="F0F5FB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8" y="48920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64"/>
                </a:solidFill>
                <a:latin typeface="Calibri"/>
              </a:rPr>
              <a:t>ADR-002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5230368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Local HuggingFace model — zero data egress; retrieval-optimised 384-dim vectors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4846320"/>
            <a:ext cx="2788920" cy="1691640"/>
          </a:xfrm>
          <a:prstGeom prst="rect">
            <a:avLst/>
          </a:prstGeom>
          <a:solidFill>
            <a:srgbClr val="F0F5FB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0216" y="48920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64"/>
                </a:solidFill>
                <a:latin typeface="Calibri"/>
              </a:rPr>
              <a:t>ADR-003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5230368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Zero-infrastructure persistent vector DB; cosine similarity; metadata filtering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98864" y="4846320"/>
            <a:ext cx="2788920" cy="1691640"/>
          </a:xfrm>
          <a:prstGeom prst="rect">
            <a:avLst/>
          </a:prstGeom>
          <a:solidFill>
            <a:srgbClr val="F0F5FB"/>
          </a:solidFill>
          <a:ln w="12700">
            <a:solidFill>
              <a:srgbClr val="1F39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90304" y="48920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64"/>
                </a:solidFill>
                <a:latin typeface="Calibri"/>
              </a:rPr>
              <a:t>ADR-004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304" y="5230368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22 M-param cross-encoder; CPU-runnable; MS MARCO training for legal/regulatory 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  <a:latin typeface="Calibri"/>
              </a:rPr>
              <a:t>Compliance Knowledge Agent  |  Confidential — For Internal Use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Trust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  <a:latin typeface="Calibri"/>
              </a:rPr>
              <a:t>AI-Recommend / Human-Approve — every answer requires human review before action</a:t>
            </a:r>
          </a:p>
        </p:txBody>
      </p:sp>
      <p:pic>
        <p:nvPicPr>
          <p:cNvPr id="5" name="Picture 4" descr="t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6400800" cy="37159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66560" y="1325880"/>
            <a:ext cx="5212080" cy="1078992"/>
          </a:xfrm>
          <a:prstGeom prst="rect">
            <a:avLst/>
          </a:prstGeom>
          <a:solidFill>
            <a:srgbClr val="FFF3E0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03720" y="13990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⚠  Low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74650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Reranker score &lt; 0.50 → escalation flag set automatically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587752"/>
            <a:ext cx="5212080" cy="1078992"/>
          </a:xfrm>
          <a:prstGeom prst="rect">
            <a:avLst/>
          </a:prstGeom>
          <a:solidFill>
            <a:srgbClr val="FFF3E0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26609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⚠  Jurisdiction 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00837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State law / EU GDPR / APAC queries → human legal review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3849624"/>
            <a:ext cx="5212080" cy="1078992"/>
          </a:xfrm>
          <a:prstGeom prst="rect">
            <a:avLst/>
          </a:prstGeom>
          <a:solidFill>
            <a:srgbClr val="FFF3E0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39227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⚠  Policy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2702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Ambiguity between two+ policies → compliance officer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5111496"/>
            <a:ext cx="5212080" cy="1078992"/>
          </a:xfrm>
          <a:prstGeom prst="rect">
            <a:avLst/>
          </a:prstGeom>
          <a:solidFill>
            <a:srgbClr val="FFF3E0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51846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⚠  Out-of-Corpus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55321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Calibri"/>
              </a:rPr>
              <a:t>No relevant chunks found → cannot answer from indexed documents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  <a:latin typeface="Calibri"/>
              </a:rPr>
              <a:t>Compliance Knowledge Agent  |  Confidential — For Internal Use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344F0-041F-4131-743A-08EA480B2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75157A-CE79-2FC5-080B-5CE49DD458F9}"/>
              </a:ext>
            </a:extLst>
          </p:cNvPr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A3E8A8-9543-FF89-C858-976C6AC65025}"/>
              </a:ext>
            </a:extLst>
          </p:cNvPr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Failure Mode Register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AE35D-3B07-FF64-A223-8646D4163361}"/>
              </a:ext>
            </a:extLst>
          </p:cNvPr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  <a:latin typeface="Calibri"/>
              </a:rPr>
              <a:t>8 failure modes rated by RPN = Severity × Occurrence × Detectability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FC70FC-C3E6-1967-1F49-AD31878BDB04}"/>
              </a:ext>
            </a:extLst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8D3EE1-DD84-092F-4DC4-9C079DAF71F4}"/>
              </a:ext>
            </a:extLst>
          </p:cNvPr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  <a:latin typeface="Calibri"/>
              </a:rPr>
              <a:t>Compliance Knowledge Agent  |  Confidential — For Internal Use Only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2C71F6-55E2-2BAD-22D2-AB791B3E2473}"/>
              </a:ext>
            </a:extLst>
          </p:cNvPr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11 / 12</a:t>
            </a:r>
          </a:p>
        </p:txBody>
      </p:sp>
      <p:pic>
        <p:nvPicPr>
          <p:cNvPr id="5" name="Picture 4" descr="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1186313"/>
            <a:ext cx="11795760" cy="526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73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Failure Mode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  <a:latin typeface="Calibri"/>
              </a:rPr>
              <a:t>8 failure modes rated by RPN = Severity × Occurrence × Detectability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824228"/>
            <a:ext cx="3643975" cy="1789794"/>
          </a:xfrm>
          <a:prstGeom prst="rect">
            <a:avLst/>
          </a:prstGeom>
          <a:solidFill>
            <a:srgbClr val="FFF0F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975104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Calibri"/>
              </a:rPr>
              <a:t>FM-001 — CRITICAL  RPN 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40864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62626"/>
                </a:solidFill>
                <a:latin typeface="Calibri"/>
              </a:rPr>
              <a:t>Regulatory Misstatement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51760"/>
            <a:ext cx="3611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262626"/>
                </a:solidFill>
                <a:latin typeface="Calibri"/>
              </a:rPr>
              <a:t>RAGAS faithfulness checks + mandatory human review before any regulatory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787651"/>
            <a:ext cx="3468362" cy="1829567"/>
          </a:xfrm>
          <a:prstGeom prst="rect">
            <a:avLst/>
          </a:prstGeom>
          <a:solidFill>
            <a:srgbClr val="FFF0F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205740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Calibri"/>
              </a:rPr>
              <a:t>FM-002 — CRITICAL  RPN 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340864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Calibri"/>
              </a:rPr>
              <a:t>Stale Policy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651760"/>
            <a:ext cx="3611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Calibri"/>
              </a:rPr>
              <a:t>Scheduled re-ingestion pipeline + document version metadata enforced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824228"/>
            <a:ext cx="3611880" cy="1782314"/>
          </a:xfrm>
          <a:prstGeom prst="rect">
            <a:avLst/>
          </a:prstGeom>
          <a:solidFill>
            <a:srgbClr val="FFF0F0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9" y="205740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7D31"/>
                </a:solidFill>
                <a:latin typeface="Calibri"/>
              </a:rPr>
              <a:t>FM-007 — HIGH  RPN 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340864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Calibri"/>
              </a:rPr>
              <a:t>PII Leakage in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651760"/>
            <a:ext cx="3611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62626"/>
                </a:solidFill>
                <a:latin typeface="Calibri"/>
              </a:rPr>
              <a:t>Input sanitisation layer applied before embedding; no PII in synthetic corpus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  <a:latin typeface="Calibri"/>
              </a:rPr>
              <a:t>Compliance Knowledge Agent  |  Confidential — For Internal Use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Domain Model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0"/>
                </a:solidFill>
                <a:latin typeface="Calibri"/>
              </a:rPr>
              <a:t>Three DDD bounded contexts — Policy · Audit · Regulation</a:t>
            </a:r>
          </a:p>
        </p:txBody>
      </p:sp>
      <p:pic>
        <p:nvPicPr>
          <p:cNvPr id="5" name="Picture 4" descr="d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8046720" cy="33105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325880"/>
            <a:ext cx="356616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49640" y="13990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Production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746504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FastAPI + ChromaDB
deployed locally;
scales to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651760"/>
            <a:ext cx="3566160" cy="1143000"/>
          </a:xfrm>
          <a:prstGeom prst="rect">
            <a:avLst/>
          </a:prstGeom>
          <a:solidFill>
            <a:srgbClr val="378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27249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Evaluation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72384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Faithfulness 0.94
Context Recall 0.91
Precision 0.87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3977640"/>
            <a:ext cx="3566160" cy="1143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4050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Trust Enforced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398264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Every answer tagged
AI-Recommend /
Human-Approve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5303520"/>
            <a:ext cx="3566160" cy="11430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53766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Extend &amp; Integrate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724144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Add PDF ingestion,
active learning,
BI dashboards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6E4F0"/>
                </a:solidFill>
                <a:latin typeface="Calibri"/>
              </a:rPr>
              <a:t>Compliance Knowledge Agent  |  Confidential — For Internal Use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4F0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1057</Words>
  <Application>Microsoft Office PowerPoint</Application>
  <PresentationFormat>Custom</PresentationFormat>
  <Paragraphs>162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Sivaprakasam Jothi</cp:lastModifiedBy>
  <cp:revision>2</cp:revision>
  <dcterms:created xsi:type="dcterms:W3CDTF">2013-01-27T09:14:16Z</dcterms:created>
  <dcterms:modified xsi:type="dcterms:W3CDTF">2026-06-07T18:14:39Z</dcterms:modified>
  <cp:category/>
</cp:coreProperties>
</file>